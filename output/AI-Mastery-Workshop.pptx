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AI MASTERY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6400" b="1">
                <a:solidFill>
                  <a:srgbClr val="FFF9F4"/>
                </a:solidFill>
                <a:latin typeface="Montserrat"/>
              </a:rPr>
              <a:t>AI IS NOT</a:t>
            </a:r>
          </a:p>
          <a:p>
            <a:pPr algn="l">
              <a:lnSpc>
                <a:spcPct val="102000"/>
              </a:lnSpc>
            </a:pPr>
            <a:r>
              <a:rPr sz="6400" b="1">
                <a:solidFill>
                  <a:srgbClr val="FFF9F4"/>
                </a:solidFill>
                <a:latin typeface="Montserrat"/>
              </a:rPr>
              <a:t>OPTIONAL</a:t>
            </a:r>
          </a:p>
          <a:p>
            <a:pPr algn="l">
              <a:lnSpc>
                <a:spcPct val="102000"/>
              </a:lnSpc>
            </a:pPr>
            <a:r>
              <a:rPr sz="6400" b="1">
                <a:solidFill>
                  <a:srgbClr val="FFF9F4"/>
                </a:solidFill>
                <a:latin typeface="Montserrat"/>
              </a:rPr>
              <a:t>ANYMORE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160520"/>
            <a:ext cx="2377440" cy="101600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434840"/>
            <a:ext cx="86868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C9C2B8"/>
                </a:solidFill>
                <a:latin typeface="Calibri"/>
              </a:rPr>
              <a:t>In the next 2 hours 10 minutes you'll join the top 1% of AI users — run your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C9C2B8"/>
                </a:solidFill>
                <a:latin typeface="Calibri"/>
              </a:rPr>
              <a:t>first automation live, and vibe-code any app you want.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394960"/>
            <a:ext cx="7863840" cy="822960"/>
          </a:xfrm>
          <a:prstGeom prst="roundRect">
            <a:avLst>
              <a:gd name="adj" fmla="val 12000"/>
            </a:avLst>
          </a:prstGeom>
          <a:solidFill>
            <a:srgbClr val="24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504688"/>
            <a:ext cx="74066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F7D00"/>
                </a:solidFill>
                <a:latin typeface="Calibri"/>
              </a:rPr>
              <a:t>“Awaz clear aa rahi hai? Comment mein bata dijiye.”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FF7D00"/>
                </a:solidFill>
                <a:latin typeface="Calibri"/>
              </a:rPr>
              <a:t>(Confirming audio is clear — drop a comment.)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6364224"/>
            <a:ext cx="109728" cy="109728"/>
          </a:xfrm>
          <a:prstGeom prst="ellipse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30936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FFF9F4"/>
                </a:solidFill>
                <a:latin typeface="Calibri"/>
              </a:rPr>
              <a:t>LIVE SESSION  |  MAKEFIRSTMILLION SERIES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AI MASTERY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1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800" b="1">
                <a:solidFill>
                  <a:srgbClr val="1A1A1A"/>
                </a:solidFill>
                <a:latin typeface="Montserrat"/>
              </a:rPr>
              <a:t>Before we start...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91640"/>
            <a:ext cx="1828800" cy="76200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194560"/>
            <a:ext cx="5669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7D00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A1A"/>
                </a:solidFill>
                <a:latin typeface="Calibri"/>
              </a:rPr>
              <a:t>📍  Drop your city in the chat right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8036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45C"/>
                </a:solidFill>
                <a:latin typeface="Calibri"/>
              </a:rPr>
              <a:t>Let's see how far this workshop reaches today.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CREDIBILITY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2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1A1A1A"/>
                </a:solidFill>
                <a:latin typeface="Montserrat"/>
              </a:rPr>
              <a:t>Why Listen to Me?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2834640" cy="3291840"/>
          </a:xfrm>
          <a:prstGeom prst="roundRect">
            <a:avLst>
              <a:gd name="adj" fmla="val 5000"/>
            </a:avLst>
          </a:prstGeom>
          <a:solidFill>
            <a:srgbClr val="F0E8DC"/>
          </a:solidFill>
          <a:ln w="15875">
            <a:solidFill>
              <a:srgbClr val="FF7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7D00"/>
                </a:solidFill>
                <a:latin typeface="Calibri"/>
              </a:rPr>
              <a:t>[ PRESENTER PHOTO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6596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Montserrat"/>
              </a:rPr>
              <a:t>Badar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51460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7D00"/>
                </a:solidFill>
                <a:latin typeface="Calibri"/>
              </a:rPr>
              <a:t>Founder — Aaghaz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97180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645C"/>
                </a:solidFill>
                <a:latin typeface="Calibri"/>
              </a:rPr>
              <a:t>Runs an AI startup studio for US clients. Worked with HeyGen, Higgsfield,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645C"/>
                </a:solidFill>
                <a:latin typeface="Calibri"/>
              </a:rPr>
              <a:t>Wondershare, and Hostinger. Delivers guest masterclasses on major tech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645C"/>
                </a:solidFill>
                <a:latin typeface="Calibri"/>
              </a:rPr>
              <a:t>channels. Aaghaz is Asia's first AI startup institute.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4160520"/>
            <a:ext cx="35661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ECF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434340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7D00"/>
                </a:solidFill>
                <a:latin typeface="Montserrat"/>
              </a:rPr>
              <a:t>10,000+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47091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45C"/>
                </a:solidFill>
                <a:latin typeface="Calibri"/>
              </a:rPr>
              <a:t>Students Trained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4160520"/>
            <a:ext cx="35661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ECF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19" y="434340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7D00"/>
                </a:solidFill>
                <a:latin typeface="Montserrat"/>
              </a:rPr>
              <a:t>5+ Years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19" y="47091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45C"/>
                </a:solidFill>
                <a:latin typeface="Calibri"/>
              </a:rPr>
              <a:t>AI Engineer → AI Marketing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5532120"/>
            <a:ext cx="35661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ECF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571500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7D00"/>
                </a:solidFill>
                <a:latin typeface="Montserrat"/>
              </a:rPr>
              <a:t>Mini Courses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60807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45C"/>
                </a:solidFill>
                <a:latin typeface="Calibri"/>
              </a:rPr>
              <a:t>On Big Tech Platforms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19" y="5532120"/>
            <a:ext cx="35661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ECF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19" y="571500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7D00"/>
                </a:solidFill>
                <a:latin typeface="Montserrat"/>
              </a:rPr>
              <a:t>MakeFirstMillion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19" y="60807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45C"/>
                </a:solidFill>
                <a:latin typeface="Calibri"/>
              </a:rPr>
              <a:t>AI Content Channel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CREDIBILITY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2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1A1A1A"/>
                </a:solidFill>
                <a:latin typeface="Montserrat"/>
              </a:rPr>
              <a:t>The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645C"/>
                </a:solidFill>
                <a:latin typeface="Calibri"/>
              </a:rPr>
              <a:t>Guest masterclasses on channels reaching hundreds of thousands of AI learners.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7744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0E8DC"/>
          </a:solidFill>
          <a:ln w="15875">
            <a:solidFill>
              <a:srgbClr val="FF7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880360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7D00"/>
                </a:solidFill>
                <a:latin typeface="Calibri"/>
              </a:rPr>
              <a:t>[ KASHIF MAJEED LOGO 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237744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0E8DC"/>
          </a:solidFill>
          <a:ln w="15875">
            <a:solidFill>
              <a:srgbClr val="FF7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2880360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7D00"/>
                </a:solidFill>
                <a:latin typeface="Calibri"/>
              </a:rPr>
              <a:t>[ HBA SERVICES LOGO 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237744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0E8DC"/>
          </a:solidFill>
          <a:ln w="15875">
            <a:solidFill>
              <a:srgbClr val="FF7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2880360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7D00"/>
                </a:solidFill>
                <a:latin typeface="Calibri"/>
              </a:rPr>
              <a:t>[ LETS UNCOVER LOGO 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25128" y="237744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0E8DC"/>
          </a:solidFill>
          <a:ln w="15875">
            <a:solidFill>
              <a:srgbClr val="FF7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25128" y="2880360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7D00"/>
                </a:solidFill>
                <a:latin typeface="Calibri"/>
              </a:rPr>
              <a:t>[ MEET MUGHALS LOGO 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297680"/>
            <a:ext cx="108813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ECF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8056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Want daily proof, not just today's slides?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Follow the journey on LinkedIn — new wins posted every week.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GROUND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3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A1A1A"/>
                </a:solidFill>
                <a:latin typeface="Montserrat"/>
              </a:rPr>
              <a:t>Get the Most Out of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1051560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864"/>
              </a:spcAft>
            </a:pPr>
            <a:r>
              <a:rPr sz="1800" b="1">
                <a:solidFill>
                  <a:srgbClr val="FF7D00"/>
                </a:solidFill>
                <a:latin typeface="Calibri"/>
              </a:rPr>
              <a:t>—  </a:t>
            </a:r>
            <a:r>
              <a:rPr sz="1800">
                <a:solidFill>
                  <a:srgbClr val="1A1A1A"/>
                </a:solidFill>
                <a:latin typeface="Calibri"/>
              </a:rPr>
              <a:t>Pen and paper ready — you'll want to write a few things down</a:t>
            </a:r>
          </a:p>
          <a:p>
            <a:pPr>
              <a:lnSpc>
                <a:spcPct val="115000"/>
              </a:lnSpc>
              <a:spcAft>
                <a:spcPts val="864"/>
              </a:spcAft>
            </a:pPr>
            <a:r>
              <a:rPr sz="1800" b="1">
                <a:solidFill>
                  <a:srgbClr val="FF7D00"/>
                </a:solidFill>
                <a:latin typeface="Calibri"/>
              </a:rPr>
              <a:t>—  </a:t>
            </a:r>
            <a:r>
              <a:rPr sz="1800">
                <a:solidFill>
                  <a:srgbClr val="1A1A1A"/>
                </a:solidFill>
                <a:latin typeface="Calibri"/>
              </a:rPr>
              <a:t>Mobile is fine, but a laptop is better if you plan to build along live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GROUND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3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FFF9F4"/>
                </a:solidFill>
                <a:latin typeface="Montserrat"/>
              </a:rPr>
              <a:t>There's a Bonus Waiting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10881360" cy="4023360"/>
          </a:xfrm>
          <a:prstGeom prst="roundRect">
            <a:avLst>
              <a:gd name="adj" fmla="val 5000"/>
            </a:avLst>
          </a:prstGeom>
          <a:solidFill>
            <a:srgbClr val="24201C"/>
          </a:solidFill>
          <a:ln w="19050">
            <a:solidFill>
              <a:srgbClr val="FF7D00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spc="150">
                <a:solidFill>
                  <a:srgbClr val="FF7D00"/>
                </a:solidFill>
                <a:latin typeface="Calibri"/>
              </a:rPr>
              <a:t>🔒  LOCKED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9875520" cy="2011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864"/>
              </a:spcAft>
            </a:pPr>
            <a:r>
              <a:rPr sz="1800" b="1">
                <a:solidFill>
                  <a:srgbClr val="FF7D00"/>
                </a:solidFill>
                <a:latin typeface="Calibri"/>
              </a:rPr>
              <a:t>—  </a:t>
            </a:r>
            <a:r>
              <a:rPr sz="1800">
                <a:solidFill>
                  <a:srgbClr val="FFF9F4"/>
                </a:solidFill>
                <a:latin typeface="Calibri"/>
              </a:rPr>
              <a:t>A curated book list</a:t>
            </a:r>
          </a:p>
          <a:p>
            <a:pPr>
              <a:lnSpc>
                <a:spcPct val="115000"/>
              </a:lnSpc>
              <a:spcAft>
                <a:spcPts val="864"/>
              </a:spcAft>
            </a:pPr>
            <a:r>
              <a:rPr sz="1800" b="1">
                <a:solidFill>
                  <a:srgbClr val="FF7D00"/>
                </a:solidFill>
                <a:latin typeface="Calibri"/>
              </a:rPr>
              <a:t>—  </a:t>
            </a:r>
            <a:r>
              <a:rPr sz="1800">
                <a:solidFill>
                  <a:srgbClr val="FFF9F4"/>
                </a:solidFill>
                <a:latin typeface="Calibri"/>
              </a:rPr>
              <a:t>The full AI tools stack list</a:t>
            </a:r>
          </a:p>
          <a:p>
            <a:pPr>
              <a:lnSpc>
                <a:spcPct val="115000"/>
              </a:lnSpc>
              <a:spcAft>
                <a:spcPts val="864"/>
              </a:spcAft>
            </a:pPr>
            <a:r>
              <a:rPr sz="1800" b="1">
                <a:solidFill>
                  <a:srgbClr val="FF7D00"/>
                </a:solidFill>
                <a:latin typeface="Calibri"/>
              </a:rPr>
              <a:t>—  </a:t>
            </a:r>
            <a:r>
              <a:rPr sz="1800">
                <a:solidFill>
                  <a:srgbClr val="FFF9F4"/>
                </a:solidFill>
                <a:latin typeface="Calibri"/>
              </a:rPr>
              <a:t>Live Q&amp;A with direct answers</a:t>
            </a:r>
          </a:p>
          <a:p>
            <a:pPr>
              <a:lnSpc>
                <a:spcPct val="115000"/>
              </a:lnSpc>
              <a:spcAft>
                <a:spcPts val="864"/>
              </a:spcAft>
            </a:pPr>
            <a:r>
              <a:rPr sz="1800" b="1">
                <a:solidFill>
                  <a:srgbClr val="FF7D00"/>
                </a:solidFill>
                <a:latin typeface="Calibri"/>
              </a:rPr>
              <a:t>—  </a:t>
            </a:r>
            <a:r>
              <a:rPr sz="1800">
                <a:solidFill>
                  <a:srgbClr val="FFF9F4"/>
                </a:solidFill>
                <a:latin typeface="Calibri"/>
              </a:rPr>
              <a:t>A special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07492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7D00"/>
                </a:solidFill>
                <a:latin typeface="Calibri"/>
              </a:rPr>
              <a:t>Unlocks only if you stay till the very 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GROUND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3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A1A1A"/>
                </a:solidFill>
                <a:latin typeface="Montserrat"/>
              </a:rPr>
              <a:t>Why No Recording?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1A1A1A"/>
                </a:solidFill>
                <a:latin typeface="Calibri"/>
              </a:rPr>
              <a:t>This session isn't being recorded on purpose. Learning sticks best when</a:t>
            </a:r>
          </a:p>
          <a:p>
            <a:pPr algn="l">
              <a:lnSpc>
                <a:spcPct val="135000"/>
              </a:lnSpc>
            </a:pPr>
            <a:r>
              <a:rPr sz="1900" b="0">
                <a:solidFill>
                  <a:srgbClr val="1A1A1A"/>
                </a:solidFill>
                <a:latin typeface="Calibri"/>
              </a:rPr>
              <a:t>you're fully present, building live, not watching later.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COMMITMENT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C9C2B8"/>
                </a:solidFill>
                <a:latin typeface="Calibri"/>
              </a:rPr>
              <a:t>SECTION 3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5600" b="1">
                <a:solidFill>
                  <a:srgbClr val="FFF9F4"/>
                </a:solidFill>
                <a:latin typeface="Montserrat"/>
              </a:rPr>
              <a:t>Type YES if</a:t>
            </a:r>
          </a:p>
          <a:p>
            <a:pPr algn="l">
              <a:lnSpc>
                <a:spcPct val="102000"/>
              </a:lnSpc>
            </a:pPr>
            <a:r>
              <a:rPr sz="5600" b="1">
                <a:solidFill>
                  <a:srgbClr val="FFF9F4"/>
                </a:solidFill>
                <a:latin typeface="Montserrat"/>
              </a:rPr>
              <a:t>you're 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4114800"/>
            <a:ext cx="1828800" cy="76200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6364224"/>
            <a:ext cx="109728" cy="109728"/>
          </a:xfrm>
          <a:prstGeom prst="ellipse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30936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FFF9F4"/>
                </a:solidFill>
                <a:latin typeface="Calibri"/>
              </a:rPr>
              <a:t>LIVE SESSION  |  MAKEFIRSTMILLION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TODAY'S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3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A1A1A"/>
                </a:solidFill>
                <a:latin typeface="Montserrat"/>
              </a:rPr>
              <a:t>What You'll Walk Away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52120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1584"/>
              </a:spcAft>
            </a:pPr>
            <a:r>
              <a:rPr sz="1600" b="1">
                <a:solidFill>
                  <a:srgbClr val="FF7D00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The 3-second prompt hack</a:t>
            </a:r>
          </a:p>
          <a:p>
            <a:pPr>
              <a:lnSpc>
                <a:spcPct val="115000"/>
              </a:lnSpc>
              <a:spcAft>
                <a:spcPts val="1584"/>
              </a:spcAft>
            </a:pPr>
            <a:r>
              <a:rPr sz="1600" b="1">
                <a:solidFill>
                  <a:srgbClr val="FF7D00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Custom GPTs / AI employees</a:t>
            </a:r>
          </a:p>
          <a:p>
            <a:pPr>
              <a:lnSpc>
                <a:spcPct val="115000"/>
              </a:lnSpc>
              <a:spcAft>
                <a:spcPts val="1584"/>
              </a:spcAft>
            </a:pPr>
            <a:r>
              <a:rPr sz="1600" b="1">
                <a:solidFill>
                  <a:srgbClr val="FF7D00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The top 1% tool stack</a:t>
            </a:r>
          </a:p>
          <a:p>
            <a:pPr>
              <a:lnSpc>
                <a:spcPct val="115000"/>
              </a:lnSpc>
              <a:spcAft>
                <a:spcPts val="1584"/>
              </a:spcAft>
            </a:pPr>
            <a:r>
              <a:rPr sz="1600" b="1">
                <a:solidFill>
                  <a:srgbClr val="FF7D00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HeyGen content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828800"/>
            <a:ext cx="52120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1584"/>
              </a:spcAft>
            </a:pPr>
            <a:r>
              <a:rPr sz="1600" b="1">
                <a:solidFill>
                  <a:srgbClr val="FF7D00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Claude mastery</a:t>
            </a:r>
          </a:p>
          <a:p>
            <a:pPr>
              <a:lnSpc>
                <a:spcPct val="115000"/>
              </a:lnSpc>
              <a:spcAft>
                <a:spcPts val="1584"/>
              </a:spcAft>
            </a:pPr>
            <a:r>
              <a:rPr sz="1600" b="1">
                <a:solidFill>
                  <a:srgbClr val="FF7D00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20 hours of research in 2 minutes</a:t>
            </a:r>
          </a:p>
          <a:p>
            <a:pPr>
              <a:lnSpc>
                <a:spcPct val="115000"/>
              </a:lnSpc>
              <a:spcAft>
                <a:spcPts val="1584"/>
              </a:spcAft>
            </a:pPr>
            <a:r>
              <a:rPr sz="1600" b="1">
                <a:solidFill>
                  <a:srgbClr val="FF7D00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1-minute presentations</a:t>
            </a:r>
          </a:p>
          <a:p>
            <a:pPr>
              <a:lnSpc>
                <a:spcPct val="115000"/>
              </a:lnSpc>
              <a:spcAft>
                <a:spcPts val="1584"/>
              </a:spcAft>
            </a:pPr>
            <a:r>
              <a:rPr sz="1600" b="1">
                <a:solidFill>
                  <a:srgbClr val="FF7D00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Personal AI agents &amp; automations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AI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C9C2B8"/>
                </a:solidFill>
                <a:latin typeface="Calibri"/>
              </a:rPr>
              <a:t>SECTION 4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800" b="1">
                <a:solidFill>
                  <a:srgbClr val="FFF9F4"/>
                </a:solidFill>
                <a:latin typeface="Montserrat"/>
              </a:rPr>
              <a:t>The 3-Second Prompt Hack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977639"/>
            <a:ext cx="1920240" cy="76200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5196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C9C2B8"/>
                </a:solidFill>
                <a:latin typeface="Calibri"/>
              </a:rPr>
              <a:t>Why most people get bad results from AI — and the fix that takes seconds to apply.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6364224"/>
            <a:ext cx="109728" cy="109728"/>
          </a:xfrm>
          <a:prstGeom prst="ellipse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630936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FFF9F4"/>
                </a:solidFill>
                <a:latin typeface="Calibri"/>
              </a:rPr>
              <a:t>LIVE SESSION  |  MAKEFIRSTMILLION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4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A1A1A"/>
                </a:solidFill>
                <a:latin typeface="Montserrat"/>
              </a:rPr>
              <a:t>Bad Prompt = Bad Result.</a:t>
            </a:r>
          </a:p>
          <a:p>
            <a:pPr algn="l">
              <a:lnSpc>
                <a:spcPct val="102000"/>
              </a:lnSpc>
            </a:pPr>
            <a:r>
              <a:rPr sz="3200" b="1">
                <a:solidFill>
                  <a:srgbClr val="1A1A1A"/>
                </a:solidFill>
                <a:latin typeface="Montserrat"/>
              </a:rPr>
              <a:t>Good Prompt = Good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0175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45C"/>
                </a:solidFill>
                <a:latin typeface="Calibri"/>
              </a:rPr>
              <a:t>The model didn't get worse. Your instructions did all the work — and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45C"/>
                </a:solidFill>
                <a:latin typeface="Calibri"/>
              </a:rPr>
              <a:t>vague instructions always produce vague output.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4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A1A1A"/>
                </a:solidFill>
                <a:latin typeface="Montserrat"/>
              </a:rPr>
              <a:t>A Weak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81360" cy="1828800"/>
          </a:xfrm>
          <a:prstGeom prst="roundRect">
            <a:avLst>
              <a:gd name="adj" fmla="val 3000"/>
            </a:avLst>
          </a:prstGeom>
          <a:solidFill>
            <a:srgbClr val="1E1B18"/>
          </a:solidFill>
          <a:ln>
            <a:noFill/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1947672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" y="194767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1872" y="1947672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36608" y="1911096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1" spc="120">
                <a:solidFill>
                  <a:srgbClr val="FF8A80"/>
                </a:solidFill>
                <a:latin typeface="Consolas"/>
              </a:rPr>
              <a:t>WEAK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86000"/>
            <a:ext cx="1033272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Role: you are a world class expert youtube hook writer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Context: rewrite my hook, make it more better and attention grabbing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Be creative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8404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645C"/>
                </a:solidFill>
                <a:latin typeface="Calibri"/>
              </a:rPr>
              <a:t>Vague role. No real context. No format. No constraints. The model has to guess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645C"/>
                </a:solidFill>
                <a:latin typeface="Calibri"/>
              </a:rPr>
              <a:t>what “better” means — so it guesses safely, and safely is boring.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THE HACK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4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A1A1A"/>
                </a:solidFill>
                <a:latin typeface="Montserrat"/>
              </a:rPr>
              <a:t>The Meta-Prompt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10881360" cy="4709160"/>
          </a:xfrm>
          <a:prstGeom prst="roundRect">
            <a:avLst>
              <a:gd name="adj" fmla="val 3000"/>
            </a:avLst>
          </a:prstGeom>
          <a:solidFill>
            <a:srgbClr val="1E1B18"/>
          </a:solidFill>
          <a:ln>
            <a:noFill/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1901952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" y="190195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1872" y="1901952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36608" y="1865376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1" spc="120">
                <a:solidFill>
                  <a:srgbClr val="FFB05C"/>
                </a:solidFill>
                <a:latin typeface="Consolas"/>
              </a:rPr>
              <a:t>THE HACK — COPY THIS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40280"/>
            <a:ext cx="10332720" cy="4023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Role: Act as an elite Prompt Engineering Consultant.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Objective: Transform any prompt I provide into a high-performance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prompt that maximizes clarity, accuracy, relevance, and output quality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from AI models.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Process: Understand the original intent. Remove ambiguity and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unnecessary wording. Add missing context where beneficial. Improve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structure and readability. Optimize instructions, constraints, and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output format. Preserve the original meaning and goal.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Deliverables: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1. Optimized Prompt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2. Rationale for Changes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3. Optional Advanced Version (if further optimization is possible)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Original Prompt: {PASTE_PROMPT_HERE}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PAYOFF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4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A1A1A"/>
                </a:solidFill>
                <a:latin typeface="Montserrat"/>
              </a:rPr>
              <a:t>Before vs. After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521208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DECF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120">
                <a:solidFill>
                  <a:srgbClr val="C44A2A"/>
                </a:solidFill>
                <a:latin typeface="Calibri"/>
              </a:rPr>
              <a:t>WEAK PROMPT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663440" cy="3017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45C"/>
                </a:solidFill>
                <a:latin typeface="Calibri"/>
              </a:rPr>
              <a:t>“Check out this amazing video, you won't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45C"/>
                </a:solidFill>
                <a:latin typeface="Calibri"/>
              </a:rPr>
              <a:t>believe what happens next!”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45C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45C"/>
                </a:solidFill>
                <a:latin typeface="Calibri"/>
              </a:rPr>
              <a:t>Generic. Overused. Sounds like every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45C"/>
                </a:solidFill>
                <a:latin typeface="Calibri"/>
              </a:rPr>
              <a:t>other hook on the 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212080" cy="3931920"/>
          </a:xfrm>
          <a:prstGeom prst="roundRect">
            <a:avLst>
              <a:gd name="adj" fmla="val 5000"/>
            </a:avLst>
          </a:prstGeom>
          <a:solidFill>
            <a:srgbClr val="24201C"/>
          </a:solidFill>
          <a:ln>
            <a:noFill/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120">
                <a:solidFill>
                  <a:srgbClr val="62C41F"/>
                </a:solidFill>
                <a:latin typeface="Calibri"/>
              </a:rPr>
              <a:t>POWER PROMPT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14600"/>
            <a:ext cx="4663440" cy="3017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9F4"/>
                </a:solidFill>
                <a:latin typeface="Calibri"/>
              </a:rPr>
              <a:t>“I spent 40 hours doing this so you don't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9F4"/>
                </a:solidFill>
                <a:latin typeface="Calibri"/>
              </a:rPr>
              <a:t>have to — here's exactly what broke,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9F4"/>
                </a:solidFill>
                <a:latin typeface="Calibri"/>
              </a:rPr>
              <a:t>and the 3-line fix.”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9F4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9F4"/>
                </a:solidFill>
                <a:latin typeface="Calibri"/>
              </a:rPr>
              <a:t>Specific. Personal stakes. Promises a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9F4"/>
                </a:solidFill>
                <a:latin typeface="Calibri"/>
              </a:rPr>
              <a:t>concrete payoff in the first 3 seconds.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4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A1A1A"/>
                </a:solidFill>
                <a:latin typeface="Montserrat"/>
              </a:rPr>
              <a:t>Build a Prompt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6B645C"/>
                </a:solidFill>
                <a:latin typeface="Calibri"/>
              </a:rPr>
              <a:t>Never write the same prompt twice. Organize every prompt that works in Notion.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651760"/>
            <a:ext cx="33832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ECF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2880360"/>
            <a:ext cx="457200" cy="76200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0632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Montserrat"/>
              </a:rPr>
              <a:t>Scripting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6616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45C"/>
                </a:solidFill>
                <a:latin typeface="Calibri"/>
              </a:rPr>
              <a:t>Hooks, outlines, video scripts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2651760"/>
            <a:ext cx="33832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ECF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36008" y="2880360"/>
            <a:ext cx="457200" cy="76200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30632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Montserrat"/>
              </a:rPr>
              <a:t>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356616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45C"/>
                </a:solidFill>
                <a:latin typeface="Calibri"/>
              </a:rPr>
              <a:t>Deep-dive &amp; summary prompts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2651760"/>
            <a:ext cx="33832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ECF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39328" y="2880360"/>
            <a:ext cx="457200" cy="76200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30632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Montserrat"/>
              </a:rPr>
              <a:t>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356616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45C"/>
                </a:solidFill>
                <a:latin typeface="Calibri"/>
              </a:rPr>
              <a:t>Ads, captions, funnels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CLAUDE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C9C2B8"/>
                </a:solidFill>
                <a:latin typeface="Calibri"/>
              </a:rPr>
              <a:t>SECTION 5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800" b="1">
                <a:solidFill>
                  <a:srgbClr val="FFF9F4"/>
                </a:solidFill>
                <a:latin typeface="Montserrat"/>
              </a:rPr>
              <a:t>Meet Your Real Thought Partner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977639"/>
            <a:ext cx="1920240" cy="76200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5196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C9C2B8"/>
                </a:solidFill>
                <a:latin typeface="Calibri"/>
              </a:rPr>
              <a:t>Not a search engine. Not autocomplete. A collaborator that holds context and builds with you.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6364224"/>
            <a:ext cx="109728" cy="109728"/>
          </a:xfrm>
          <a:prstGeom prst="ellipse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630936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FFF9F4"/>
                </a:solidFill>
                <a:latin typeface="Calibri"/>
              </a:rPr>
              <a:t>LIVE SESSION  |  MAKEFIRSTMILLION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5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A1A1A"/>
                </a:solidFill>
                <a:latin typeface="Montserrat"/>
              </a:rPr>
              <a:t>How Claude Actually Thinks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51560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2520"/>
              </a:spcAft>
            </a:pPr>
            <a:r>
              <a:rPr sz="1700" b="1">
                <a:solidFill>
                  <a:srgbClr val="FF7D00"/>
                </a:solidFill>
                <a:latin typeface="Calibri"/>
              </a:rPr>
              <a:t>—  </a:t>
            </a:r>
            <a:r>
              <a:rPr sz="1700">
                <a:solidFill>
                  <a:srgbClr val="1A1A1A"/>
                </a:solidFill>
                <a:latin typeface="Calibri"/>
              </a:rPr>
              <a:t>Context windows: Claude remembers everything you've told it in this
conversation — use that, don't repeat yourself</a:t>
            </a:r>
          </a:p>
          <a:p>
            <a:pPr>
              <a:lnSpc>
                <a:spcPct val="115000"/>
              </a:lnSpc>
              <a:spcAft>
                <a:spcPts val="2520"/>
              </a:spcAft>
            </a:pPr>
            <a:r>
              <a:rPr sz="1700" b="1">
                <a:solidFill>
                  <a:srgbClr val="FF7D00"/>
                </a:solidFill>
                <a:latin typeface="Calibri"/>
              </a:rPr>
              <a:t>—  </a:t>
            </a:r>
            <a:r>
              <a:rPr sz="1700">
                <a:solidFill>
                  <a:srgbClr val="1A1A1A"/>
                </a:solidFill>
                <a:latin typeface="Calibri"/>
              </a:rPr>
              <a:t>Instructions matter more than the model: a clear brief beats a
“smarter” model with a vague one</a:t>
            </a:r>
          </a:p>
          <a:p>
            <a:pPr>
              <a:lnSpc>
                <a:spcPct val="115000"/>
              </a:lnSpc>
              <a:spcAft>
                <a:spcPts val="2520"/>
              </a:spcAft>
            </a:pPr>
            <a:r>
              <a:rPr sz="1700" b="1">
                <a:solidFill>
                  <a:srgbClr val="FF7D00"/>
                </a:solidFill>
                <a:latin typeface="Calibri"/>
              </a:rPr>
              <a:t>—  </a:t>
            </a:r>
            <a:r>
              <a:rPr sz="1700">
                <a:solidFill>
                  <a:srgbClr val="1A1A1A"/>
                </a:solidFill>
                <a:latin typeface="Calibri"/>
              </a:rPr>
              <a:t>Claude as thought partner, not search engine: ask it to reason,
critique, and iterate — not just retrieve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LIVE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5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A1A1A"/>
                </a:solidFill>
                <a:latin typeface="Montserrat"/>
              </a:rPr>
              <a:t>From Weak Ask to Working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10881360" cy="1188720"/>
          </a:xfrm>
          <a:prstGeom prst="roundRect">
            <a:avLst>
              <a:gd name="adj" fmla="val 3000"/>
            </a:avLst>
          </a:prstGeom>
          <a:solidFill>
            <a:srgbClr val="1E1B18"/>
          </a:solidFill>
          <a:ln>
            <a:noFill/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1901952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" y="190195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1872" y="1901952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36608" y="1865376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1" spc="120">
                <a:solidFill>
                  <a:srgbClr val="FF8A80"/>
                </a:solidFill>
                <a:latin typeface="Consolas"/>
              </a:rPr>
              <a:t>ORIGINAL 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40280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mujhe ek barber shop ke liye booking app chahiye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632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645C"/>
                </a:solidFill>
                <a:latin typeface="Calibri"/>
              </a:rPr>
              <a:t>↓  Run it through the meta-prompt from Section 4, paste into Claude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657600"/>
            <a:ext cx="51206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ECF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C44A2A"/>
                </a:solidFill>
                <a:latin typeface="Montserrat"/>
              </a:rPr>
              <a:t>10–15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6B645C"/>
                </a:solidFill>
                <a:latin typeface="Calibri"/>
              </a:rPr>
              <a:t>Traditional dev timeline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657600"/>
            <a:ext cx="5120640" cy="2194560"/>
          </a:xfrm>
          <a:prstGeom prst="roundRect">
            <a:avLst>
              <a:gd name="adj" fmla="val 6000"/>
            </a:avLst>
          </a:prstGeom>
          <a:solidFill>
            <a:srgbClr val="24201C"/>
          </a:solidFill>
          <a:ln>
            <a:noFill/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20624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62C41F"/>
                </a:solidFill>
                <a:latin typeface="Montserrat"/>
              </a:rPr>
              <a:t>~2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50292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F9F4"/>
                </a:solidFill>
                <a:latin typeface="Calibri"/>
              </a:rPr>
              <a:t>Live, with Claude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CLAUDE CONNECTORS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5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A1A1A"/>
                </a:solidFill>
                <a:latin typeface="Montserrat"/>
              </a:rPr>
              <a:t>Job-Hunting on Autopilot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18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783080"/>
            <a:ext cx="502920" cy="502920"/>
          </a:xfrm>
          <a:prstGeom prst="ellipse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80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98755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Upload your resume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834640"/>
            <a:ext cx="502920" cy="502920"/>
          </a:xfrm>
          <a:prstGeom prst="ellipse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80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98755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Ask Claude to find ~10 remote jobs matching your role &amp; salary target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886200"/>
            <a:ext cx="502920" cy="502920"/>
          </a:xfrm>
          <a:prstGeom prst="ellipse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80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31920"/>
            <a:ext cx="98755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Connect the Indeed connector → live results appear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937760"/>
            <a:ext cx="502920" cy="502920"/>
          </a:xfrm>
          <a:prstGeom prst="ellipse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80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983480"/>
            <a:ext cx="98755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Personalize your resume for 4 selected roles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CONNECTORS — PROMPT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5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A1A1A"/>
                </a:solidFill>
                <a:latin typeface="Montserrat"/>
              </a:rPr>
              <a:t>Find the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10881360" cy="1828800"/>
          </a:xfrm>
          <a:prstGeom prst="roundRect">
            <a:avLst>
              <a:gd name="adj" fmla="val 3000"/>
            </a:avLst>
          </a:prstGeom>
          <a:solidFill>
            <a:srgbClr val="1E1B18"/>
          </a:solidFill>
          <a:ln>
            <a:noFill/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1901952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" y="190195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1872" y="1901952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36608" y="1865376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1" spc="120">
                <a:solidFill>
                  <a:srgbClr val="FFB05C"/>
                </a:solidFill>
                <a:latin typeface="Consolas"/>
              </a:rPr>
              <a:t>PROMPT — FIND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40280"/>
            <a:ext cx="1033272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Find ~10 remote job listings for a [ROLE] with a target salary of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[SALARY]. Prioritize postings from the last 14 days. For each, return: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title, company, salary range, key requirements, and a direct link.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CONNECTORS — PROMPT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5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A1A1A"/>
                </a:solidFill>
                <a:latin typeface="Montserrat"/>
              </a:rPr>
              <a:t>Personalize for Each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10881360" cy="1828800"/>
          </a:xfrm>
          <a:prstGeom prst="roundRect">
            <a:avLst>
              <a:gd name="adj" fmla="val 3000"/>
            </a:avLst>
          </a:prstGeom>
          <a:solidFill>
            <a:srgbClr val="1E1B18"/>
          </a:solidFill>
          <a:ln>
            <a:noFill/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1901952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" y="190195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1872" y="1901952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36608" y="1865376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1" spc="120">
                <a:solidFill>
                  <a:srgbClr val="FFB05C"/>
                </a:solidFill>
                <a:latin typeface="Consolas"/>
              </a:rPr>
              <a:t>PROMPT — PERSONALIZE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40280"/>
            <a:ext cx="1033272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Using my uploaded resume and the job description for [ROLE / COMPANY],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rewrite my resume summary and top 3 bullet points to mirror the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language and priorities of this specific posting. Keep every claim true.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LIVE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C9C2B8"/>
                </a:solidFill>
                <a:latin typeface="Calibri"/>
              </a:rPr>
              <a:t>SECTION 6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800" b="1">
                <a:solidFill>
                  <a:srgbClr val="FFF9F4"/>
                </a:solidFill>
                <a:latin typeface="Montserrat"/>
              </a:rPr>
              <a:t>Build One Real Automation, Live, in n8n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977639"/>
            <a:ext cx="1920240" cy="76200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5196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C9C2B8"/>
                </a:solidFill>
                <a:latin typeface="Calibri"/>
              </a:rPr>
              <a:t>Something that works while you sleep — built from scratch, on screen, right now.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6364224"/>
            <a:ext cx="109728" cy="109728"/>
          </a:xfrm>
          <a:prstGeom prst="ellipse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630936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FFF9F4"/>
                </a:solidFill>
                <a:latin typeface="Calibri"/>
              </a:rPr>
              <a:t>LIVE SESSION  |  MAKEFIRSTMILLION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BUILD ANYTHING FAST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C9C2B8"/>
                </a:solidFill>
                <a:latin typeface="Calibri"/>
              </a:rPr>
              <a:t>SECTION 7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800" b="1">
                <a:solidFill>
                  <a:srgbClr val="FFF9F4"/>
                </a:solidFill>
                <a:latin typeface="Montserrat"/>
              </a:rPr>
              <a:t>Research, Slides &amp; Vibe-Coded Sites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977639"/>
            <a:ext cx="1920240" cy="76200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5196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C9C2B8"/>
                </a:solidFill>
                <a:latin typeface="Calibri"/>
              </a:rPr>
              <a:t>Three tools, three payoffs: deep research in minutes, a live presentation, and a working website.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6364224"/>
            <a:ext cx="109728" cy="109728"/>
          </a:xfrm>
          <a:prstGeom prst="ellipse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630936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FFF9F4"/>
                </a:solidFill>
                <a:latin typeface="Calibri"/>
              </a:rPr>
              <a:t>LIVE SESSION  |  MAKEFIRSTMILLION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NOTEBOOKLM — 1:00–1:12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7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A1A1A"/>
                </a:solidFill>
                <a:latin typeface="Montserrat"/>
              </a:rPr>
              <a:t>Deep Research, Compressed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1E1B18"/>
          </a:solidFill>
          <a:ln>
            <a:noFill/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1856232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" y="185623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1872" y="1856232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36608" y="1819656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1" spc="120">
                <a:solidFill>
                  <a:srgbClr val="FFB05C"/>
                </a:solidFill>
                <a:latin typeface="Consolas"/>
              </a:rPr>
              <a:t>DEEP RESEARCH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94560"/>
            <a:ext cx="10332720" cy="2606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Act as a senior research analyst. Produce a deep research report on: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"How many jobs are being lost because of AI?"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Structure the output as: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1. Executive Summary  2. Key Findings  3. Data &amp; Statistics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4. Industry Breakdown  5. Regional Differences  6. Counterarguments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7. Expert Opinions  8. Historical Precedent  9. Near-Term Outlook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10. Practical Takeaways  11. References /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1663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45C"/>
                </a:solidFill>
                <a:latin typeface="Calibri"/>
              </a:rPr>
              <a:t>Then: paste a podcast link → summarize it → ask follow-up questions, all inside NotebookLM.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NOTEBOOKLM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7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A1A1A"/>
                </a:solidFill>
                <a:latin typeface="Montserrat"/>
              </a:rPr>
              <a:t>One Source, Four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52120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ECF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574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Montserrat"/>
              </a:rPr>
              <a:t>🗺  Mind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060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45C"/>
                </a:solidFill>
                <a:latin typeface="Calibri"/>
              </a:rPr>
              <a:t>Visual breakdown of every key idea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828800"/>
            <a:ext cx="52120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ECF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0574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Montserrat"/>
              </a:rPr>
              <a:t>📊  Infographic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6060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45C"/>
                </a:solidFill>
                <a:latin typeface="Calibri"/>
              </a:rPr>
              <a:t>Shareable summary, ready to post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11880"/>
            <a:ext cx="52120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ECF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8404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Montserrat"/>
              </a:rPr>
              <a:t>🎬  Generated Video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38912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45C"/>
                </a:solidFill>
                <a:latin typeface="Calibri"/>
              </a:rPr>
              <a:t>A narrated walkthrough of the research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3611880"/>
            <a:ext cx="52120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ECF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8404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Montserrat"/>
              </a:rPr>
              <a:t>🎧  Audio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38912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45C"/>
                </a:solidFill>
                <a:latin typeface="Calibri"/>
              </a:rPr>
              <a:t>A podcast-style discussion of your topic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1:12–1:20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7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A1A1A"/>
                </a:solidFill>
                <a:latin typeface="Montserrat"/>
              </a:rPr>
              <a:t>Research → 1-Minute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6B645C"/>
                </a:solidFill>
                <a:latin typeface="Calibri"/>
              </a:rPr>
              <a:t>Take the NotebookLM research from the last step and paste it straight into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6B645C"/>
                </a:solidFill>
                <a:latin typeface="Calibri"/>
              </a:rPr>
              <a:t>a presentation builder.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834640"/>
            <a:ext cx="10881360" cy="2377440"/>
          </a:xfrm>
          <a:prstGeom prst="roundRect">
            <a:avLst>
              <a:gd name="adj" fmla="val 5000"/>
            </a:avLst>
          </a:prstGeom>
          <a:solidFill>
            <a:srgbClr val="141312"/>
          </a:solidFill>
          <a:ln>
            <a:noFill/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2004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spc="200">
                <a:solidFill>
                  <a:srgbClr val="C9C2B8"/>
                </a:solidFill>
                <a:latin typeface="Calibri"/>
              </a:rPr>
              <a:t>THE TOOL IS...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49039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7D00"/>
                </a:solidFill>
                <a:latin typeface="Montserrat"/>
              </a:rPr>
              <a:t>Genspark / Chronicle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7091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9F4"/>
                </a:solidFill>
                <a:latin typeface="Calibri"/>
              </a:rPr>
              <a:t>A full presentation, built in under a minute.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1:20–1:30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7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A1A1A"/>
                </a:solidFill>
                <a:latin typeface="Montserrat"/>
              </a:rPr>
              <a:t>Vibe-Coded Website — Stitch → AI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10881360" cy="1920240"/>
          </a:xfrm>
          <a:prstGeom prst="roundRect">
            <a:avLst>
              <a:gd name="adj" fmla="val 3000"/>
            </a:avLst>
          </a:prstGeom>
          <a:solidFill>
            <a:srgbClr val="1E1B18"/>
          </a:solidFill>
          <a:ln>
            <a:noFill/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1856232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" y="185623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1872" y="1856232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36608" y="1819656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1" spc="120">
                <a:solidFill>
                  <a:srgbClr val="FFB05C"/>
                </a:solidFill>
                <a:latin typeface="Consolas"/>
              </a:rPr>
              <a:t>REDESIGN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94560"/>
            <a:ext cx="10332720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Redesign the landing page at aaghaz.ai/programs/ai-workshop for a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premium, high-conversion feel. Warm off-white background, bold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orange accent, heavy display headline font, card-based sections,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E8E3DC"/>
                </a:solidFill>
                <a:latin typeface="Consolas"/>
              </a:rPr>
              <a:t>clear CTA above the fold. Keep the copy, change the design system.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794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B645C"/>
                </a:solidFill>
                <a:latin typeface="Calibri"/>
              </a:rPr>
              <a:t>Stitch produces the design.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206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B645C"/>
                </a:solidFill>
                <a:latin typeface="Calibri"/>
              </a:rPr>
              <a:t>Export to Google AI Studio → a live, working site.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846320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24201C"/>
          </a:solidFill>
          <a:ln>
            <a:noFill/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074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7D00"/>
                </a:solidFill>
                <a:latin typeface="Calibri"/>
              </a:rPr>
              <a:t>This is what “vibe code any app you want” means.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HEYGEN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C9C2B8"/>
                </a:solidFill>
                <a:latin typeface="Calibri"/>
              </a:rPr>
              <a:t>SECTION 8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800" b="1">
                <a:solidFill>
                  <a:srgbClr val="FFF9F4"/>
                </a:solidFill>
                <a:latin typeface="Montserrat"/>
              </a:rPr>
              <a:t>Studio-Quality Content, No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977639"/>
            <a:ext cx="1920240" cy="76200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5196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C9C2B8"/>
                </a:solidFill>
                <a:latin typeface="Calibri"/>
              </a:rPr>
              <a:t>AI avatars, cloned voices, and instant localization — built on real production work.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6364224"/>
            <a:ext cx="109728" cy="109728"/>
          </a:xfrm>
          <a:prstGeom prst="ellipse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630936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FFF9F4"/>
                </a:solidFill>
                <a:latin typeface="Calibri"/>
              </a:rPr>
              <a:t>LIVE SESSION  |  MAKEFIRSTMILLION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WHY HEYGEN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8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A1A1A"/>
                </a:solidFill>
                <a:latin typeface="Montserrat"/>
              </a:rPr>
              <a:t>Replaces a Full Production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1051560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2016"/>
              </a:spcAft>
            </a:pPr>
            <a:r>
              <a:rPr sz="1700" b="1">
                <a:solidFill>
                  <a:srgbClr val="FF7D00"/>
                </a:solidFill>
                <a:latin typeface="Calibri"/>
              </a:rPr>
              <a:t>—  </a:t>
            </a:r>
            <a:r>
              <a:rPr sz="1700">
                <a:solidFill>
                  <a:srgbClr val="1A1A1A"/>
                </a:solidFill>
                <a:latin typeface="Calibri"/>
              </a:rPr>
              <a:t>AI avatars that deliver your script on camera, without a camera</a:t>
            </a:r>
          </a:p>
          <a:p>
            <a:pPr>
              <a:lnSpc>
                <a:spcPct val="115000"/>
              </a:lnSpc>
              <a:spcAft>
                <a:spcPts val="2016"/>
              </a:spcAft>
            </a:pPr>
            <a:r>
              <a:rPr sz="1700" b="1">
                <a:solidFill>
                  <a:srgbClr val="FF7D00"/>
                </a:solidFill>
                <a:latin typeface="Calibri"/>
              </a:rPr>
              <a:t>—  </a:t>
            </a:r>
            <a:r>
              <a:rPr sz="1700">
                <a:solidFill>
                  <a:srgbClr val="1A1A1A"/>
                </a:solidFill>
                <a:latin typeface="Calibri"/>
              </a:rPr>
              <a:t>Voice cloning — your voice, at any scale</a:t>
            </a:r>
          </a:p>
          <a:p>
            <a:pPr>
              <a:lnSpc>
                <a:spcPct val="115000"/>
              </a:lnSpc>
              <a:spcAft>
                <a:spcPts val="2016"/>
              </a:spcAft>
            </a:pPr>
            <a:r>
              <a:rPr sz="1700" b="1">
                <a:solidFill>
                  <a:srgbClr val="FF7D00"/>
                </a:solidFill>
                <a:latin typeface="Calibri"/>
              </a:rPr>
              <a:t>—  </a:t>
            </a:r>
            <a:r>
              <a:rPr sz="1700">
                <a:solidFill>
                  <a:srgbClr val="1A1A1A"/>
                </a:solidFill>
                <a:latin typeface="Calibri"/>
              </a:rPr>
              <a:t>Multi-language localization from a single script</a:t>
            </a:r>
          </a:p>
          <a:p>
            <a:pPr>
              <a:lnSpc>
                <a:spcPct val="115000"/>
              </a:lnSpc>
              <a:spcAft>
                <a:spcPts val="2016"/>
              </a:spcAft>
            </a:pPr>
            <a:r>
              <a:rPr sz="1700" b="1">
                <a:solidFill>
                  <a:srgbClr val="FF7D00"/>
                </a:solidFill>
                <a:latin typeface="Calibri"/>
              </a:rPr>
              <a:t>—  </a:t>
            </a:r>
            <a:r>
              <a:rPr sz="1700">
                <a:solidFill>
                  <a:srgbClr val="1A1A1A"/>
                </a:solidFill>
                <a:latin typeface="Calibri"/>
              </a:rPr>
              <a:t>Studio-quality output without a studio</a:t>
            </a:r>
          </a:p>
          <a:p>
            <a:pPr>
              <a:lnSpc>
                <a:spcPct val="115000"/>
              </a:lnSpc>
              <a:spcAft>
                <a:spcPts val="2016"/>
              </a:spcAft>
            </a:pPr>
            <a:r>
              <a:rPr sz="1700" b="1">
                <a:solidFill>
                  <a:srgbClr val="FF7D00"/>
                </a:solidFill>
                <a:latin typeface="Calibri"/>
              </a:rPr>
              <a:t>—  </a:t>
            </a:r>
            <a:r>
              <a:rPr sz="1700">
                <a:solidFill>
                  <a:srgbClr val="1A1A1A"/>
                </a:solidFill>
                <a:latin typeface="Calibri"/>
              </a:rPr>
              <a:t>Built on direct production work with the HeyGen team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LIVE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8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A1A1A"/>
                </a:solidFill>
                <a:latin typeface="Montserrat"/>
              </a:rPr>
              <a:t>Inside the HeyGen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42900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ADECF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8600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1A"/>
                </a:solidFill>
                <a:latin typeface="Montserrat"/>
              </a:rPr>
              <a:t>Avatar Library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8036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45C"/>
                </a:solidFill>
                <a:latin typeface="Calibri"/>
              </a:rPr>
              <a:t>Dozens of realistic presenters to choose from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011680"/>
            <a:ext cx="342900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ADECF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28600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1A"/>
                </a:solidFill>
                <a:latin typeface="Montserrat"/>
              </a:rPr>
              <a:t>Voice Library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88036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45C"/>
                </a:solidFill>
                <a:latin typeface="Calibri"/>
              </a:rPr>
              <a:t>Match tone, language, and accent to your brand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2011680"/>
            <a:ext cx="342900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ADECF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228600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1A"/>
                </a:solidFill>
                <a:latin typeface="Montserrat"/>
              </a:rPr>
              <a:t>Project Templates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288036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45C"/>
                </a:solidFill>
                <a:latin typeface="Calibri"/>
              </a:rPr>
              <a:t>Start from a layout instead of a blank canvas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LIVE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8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A1A1A"/>
                </a:solidFill>
                <a:latin typeface="Montserrat"/>
              </a:rPr>
              <a:t>Script → Finished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77440"/>
            <a:ext cx="25146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DECF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78892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A1A1A"/>
                </a:solidFill>
                <a:latin typeface="Calibri"/>
              </a:rPr>
              <a:t>Script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968" y="2697480"/>
            <a:ext cx="182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FF7D00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2377440"/>
            <a:ext cx="25146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DECF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278892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A1A1A"/>
                </a:solidFill>
                <a:latin typeface="Calibri"/>
              </a:rPr>
              <a:t>Avatar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697480"/>
            <a:ext cx="182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FF7D0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3328" y="2377440"/>
            <a:ext cx="25146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DECF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278892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A1A1A"/>
                </a:solidFill>
                <a:latin typeface="Calibri"/>
              </a:rPr>
              <a:t>Voice pairing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2697480"/>
            <a:ext cx="1828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FF7D00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50808" y="2377440"/>
            <a:ext cx="2514600" cy="1280160"/>
          </a:xfrm>
          <a:prstGeom prst="roundRect">
            <a:avLst>
              <a:gd name="adj" fmla="val 10000"/>
            </a:avLst>
          </a:prstGeom>
          <a:solidFill>
            <a:srgbClr val="FF7D00"/>
          </a:solidFill>
          <a:ln>
            <a:noFill/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0808" y="278892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Render &amp; preview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114800"/>
            <a:ext cx="10881360" cy="1828800"/>
          </a:xfrm>
          <a:prstGeom prst="roundRect">
            <a:avLst>
              <a:gd name="adj" fmla="val 5000"/>
            </a:avLst>
          </a:prstGeom>
          <a:solidFill>
            <a:srgbClr val="F0E8DC"/>
          </a:solidFill>
          <a:ln w="15875">
            <a:solidFill>
              <a:srgbClr val="FF7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800600"/>
            <a:ext cx="108813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7D00"/>
                </a:solidFill>
                <a:latin typeface="Calibri"/>
              </a:rPr>
              <a:t>[ LIVE DEMO / FINISHED CONTENT REVEAL 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8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A1A1A"/>
                </a:solidFill>
                <a:latin typeface="Montserrat"/>
              </a:rPr>
              <a:t>Scale Without Filming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515600" cy="3657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2520"/>
              </a:spcAft>
            </a:pPr>
            <a:r>
              <a:rPr sz="1800" b="1">
                <a:solidFill>
                  <a:srgbClr val="FF7D00"/>
                </a:solidFill>
                <a:latin typeface="Calibri"/>
              </a:rPr>
              <a:t>—  </a:t>
            </a:r>
            <a:r>
              <a:rPr sz="1800">
                <a:solidFill>
                  <a:srgbClr val="1A1A1A"/>
                </a:solidFill>
                <a:latin typeface="Calibri"/>
              </a:rPr>
              <a:t>Produce content at scale without ever picking up a camera</a:t>
            </a:r>
          </a:p>
          <a:p>
            <a:pPr>
              <a:lnSpc>
                <a:spcPct val="115000"/>
              </a:lnSpc>
              <a:spcAft>
                <a:spcPts val="2520"/>
              </a:spcAft>
            </a:pPr>
            <a:r>
              <a:rPr sz="1800" b="1">
                <a:solidFill>
                  <a:srgbClr val="FF7D00"/>
                </a:solidFill>
                <a:latin typeface="Calibri"/>
              </a:rPr>
              <a:t>—  </a:t>
            </a:r>
            <a:r>
              <a:rPr sz="1800">
                <a:solidFill>
                  <a:srgbClr val="1A1A1A"/>
                </a:solidFill>
                <a:latin typeface="Calibri"/>
              </a:rPr>
              <a:t>Localize instantly into any language your audience speaks</a:t>
            </a:r>
          </a:p>
          <a:p>
            <a:pPr>
              <a:lnSpc>
                <a:spcPct val="115000"/>
              </a:lnSpc>
              <a:spcAft>
                <a:spcPts val="2520"/>
              </a:spcAft>
            </a:pPr>
            <a:r>
              <a:rPr sz="1800" b="1">
                <a:solidFill>
                  <a:srgbClr val="FF7D00"/>
                </a:solidFill>
                <a:latin typeface="Calibri"/>
              </a:rPr>
              <a:t>—  </a:t>
            </a:r>
            <a:r>
              <a:rPr sz="1800">
                <a:solidFill>
                  <a:srgbClr val="1A1A1A"/>
                </a:solidFill>
                <a:latin typeface="Calibri"/>
              </a:rPr>
              <a:t>Fits directly into the automated content pipeline from Section 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WRAPPING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C9C2B8"/>
                </a:solidFill>
                <a:latin typeface="Calibri"/>
              </a:rPr>
              <a:t>SECTION 9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200" b="1">
                <a:solidFill>
                  <a:srgbClr val="FFF9F4"/>
                </a:solidFill>
                <a:latin typeface="Montserrat"/>
              </a:rPr>
              <a:t>Everything today was</a:t>
            </a:r>
          </a:p>
          <a:p>
            <a:pPr algn="l">
              <a:lnSpc>
                <a:spcPct val="102000"/>
              </a:lnSpc>
            </a:pPr>
            <a:r>
              <a:rPr sz="4200" b="1">
                <a:solidFill>
                  <a:srgbClr val="FFF9F4"/>
                </a:solidFill>
                <a:latin typeface="Montserrat"/>
              </a:rPr>
              <a:t>maybe 2% of AI.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520440"/>
            <a:ext cx="2011680" cy="76200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4023360"/>
            <a:ext cx="5943600" cy="1005840"/>
          </a:xfrm>
          <a:prstGeom prst="roundRect">
            <a:avLst>
              <a:gd name="adj" fmla="val 15000"/>
            </a:avLst>
          </a:prstGeom>
          <a:solidFill>
            <a:srgbClr val="FF7D00"/>
          </a:solidFill>
          <a:ln>
            <a:noFill/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251960"/>
            <a:ext cx="5943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A1A1A"/>
                </a:solidFill>
                <a:latin typeface="Calibri"/>
              </a:rPr>
              <a:t>Type ME in the chat if you want to see the rest.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6364224"/>
            <a:ext cx="109728" cy="109728"/>
          </a:xfrm>
          <a:prstGeom prst="ellipse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30936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FFF9F4"/>
                </a:solidFill>
                <a:latin typeface="Calibri"/>
              </a:rPr>
              <a:t>LIVE SESSION  |  MAKEFIRSTMILLION SERIES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THE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C9C2B8"/>
                </a:solidFill>
                <a:latin typeface="Calibri"/>
              </a:rPr>
              <a:t>SECTION 9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spc="200">
                <a:solidFill>
                  <a:srgbClr val="C9C2B8"/>
                </a:solidFill>
                <a:latin typeface="Calibri"/>
              </a:rPr>
              <a:t>INTRODUCING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800" b="1">
                <a:solidFill>
                  <a:srgbClr val="FFF9F4"/>
                </a:solidFill>
                <a:latin typeface="Montserrat"/>
              </a:rPr>
              <a:t>3-Month AI</a:t>
            </a:r>
          </a:p>
          <a:p>
            <a:pPr algn="l">
              <a:lnSpc>
                <a:spcPct val="102000"/>
              </a:lnSpc>
            </a:pPr>
            <a:r>
              <a:rPr sz="4800" b="1">
                <a:solidFill>
                  <a:srgbClr val="FFF9F4"/>
                </a:solidFill>
                <a:latin typeface="Montserrat"/>
              </a:rPr>
              <a:t>Hands-On Program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520440"/>
            <a:ext cx="2377440" cy="76200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4114800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24201C"/>
          </a:solidFill>
          <a:ln>
            <a:noFill/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3891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7D00"/>
                </a:solidFill>
                <a:latin typeface="Montserrat"/>
              </a:rPr>
              <a:t>40+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16636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F9F4"/>
                </a:solidFill>
                <a:latin typeface="Calibri"/>
              </a:rPr>
              <a:t>Hours of Content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4114800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24201C"/>
          </a:solidFill>
          <a:ln>
            <a:noFill/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43891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7D00"/>
                </a:solidFill>
                <a:latin typeface="Montserrat"/>
              </a:rPr>
              <a:t>30+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516636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F9F4"/>
                </a:solidFill>
                <a:latin typeface="Calibri"/>
              </a:rPr>
              <a:t>Tools Mastered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4114800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24201C"/>
          </a:solidFill>
          <a:ln>
            <a:noFill/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3891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7D00"/>
                </a:solidFill>
                <a:latin typeface="Montserra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516636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F9F4"/>
                </a:solidFill>
                <a:latin typeface="Calibri"/>
              </a:rPr>
              <a:t>Completion Certificate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THE CURRICULUM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9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000" b="1">
                <a:solidFill>
                  <a:srgbClr val="1A1A1A"/>
                </a:solidFill>
                <a:latin typeface="Montserrat"/>
              </a:rPr>
              <a:t>5 Modules, Start to Finish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34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783080"/>
            <a:ext cx="457200" cy="457200"/>
          </a:xfrm>
          <a:prstGeom prst="ellipse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10512"/>
            <a:ext cx="98755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AI Fundamentals &amp; Ethics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3252" y="2240280"/>
            <a:ext cx="25400" cy="384048"/>
          </a:xfrm>
          <a:prstGeom prst="rect">
            <a:avLst/>
          </a:prstGeom>
          <a:solidFill>
            <a:srgbClr val="EADE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2624328"/>
            <a:ext cx="457200" cy="457200"/>
          </a:xfrm>
          <a:prstGeom prst="ellipse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51760"/>
            <a:ext cx="98755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ChatGPT / Claude / Gemini Mastery &amp; Prompt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3252" y="3081528"/>
            <a:ext cx="25400" cy="384048"/>
          </a:xfrm>
          <a:prstGeom prst="rect">
            <a:avLst/>
          </a:prstGeom>
          <a:solidFill>
            <a:srgbClr val="EADE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3465576"/>
            <a:ext cx="457200" cy="457200"/>
          </a:xfrm>
          <a:prstGeom prst="ellipse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493008"/>
            <a:ext cx="98755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AI Content Creation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" y="3922776"/>
            <a:ext cx="25400" cy="384048"/>
          </a:xfrm>
          <a:prstGeom prst="rect">
            <a:avLst/>
          </a:prstGeom>
          <a:solidFill>
            <a:srgbClr val="EADE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4306824"/>
            <a:ext cx="457200" cy="457200"/>
          </a:xfrm>
          <a:prstGeom prst="ellipse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334256"/>
            <a:ext cx="98755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AI Agents &amp; Freelance Income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" y="4764024"/>
            <a:ext cx="25400" cy="384048"/>
          </a:xfrm>
          <a:prstGeom prst="rect">
            <a:avLst/>
          </a:prstGeom>
          <a:solidFill>
            <a:srgbClr val="EADE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" y="5148072"/>
            <a:ext cx="457200" cy="457200"/>
          </a:xfrm>
          <a:prstGeom prst="ellipse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175504"/>
            <a:ext cx="98755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Calibri"/>
              </a:rPr>
              <a:t>No-Code AI Development &amp; Client-Ready Websites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THE 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C9C2B8"/>
                </a:solidFill>
                <a:latin typeface="Calibri"/>
              </a:rPr>
              <a:t>SECTION 9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63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spc="150">
                <a:solidFill>
                  <a:srgbClr val="C9C2B8"/>
                </a:solidFill>
                <a:latin typeface="Calibri"/>
              </a:rPr>
              <a:t>WORKSHOP-ONLY PRICE — FIRST 40 PEOPLE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20240"/>
            <a:ext cx="10515600" cy="822960"/>
          </a:xfrm>
          <a:prstGeom prst="rect">
            <a:avLst/>
          </a:prstGeom>
          <a:noFill/>
        </p:spPr>
        <p:txBody>
          <a:bodyPr wrap="square" anchor="t" lIns="0" r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C2B8"/>
                </a:solidFill>
                <a:latin typeface="Montserrat"/>
              </a:rPr>
              <a:t>PKR 436,000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12848"/>
            <a:ext cx="3017520" cy="38100"/>
          </a:xfrm>
          <a:prstGeom prst="rect">
            <a:avLst/>
          </a:prstGeom>
          <a:solidFill>
            <a:srgbClr val="8A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606040"/>
            <a:ext cx="10515600" cy="1463040"/>
          </a:xfrm>
          <a:prstGeom prst="rect">
            <a:avLst/>
          </a:prstGeom>
          <a:noFill/>
        </p:spPr>
        <p:txBody>
          <a:bodyPr wrap="square" anchor="t" lIns="0" r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7D00"/>
                </a:solidFill>
                <a:latin typeface="Montserrat"/>
              </a:rPr>
              <a:t>PKR 48,899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1605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9F4"/>
                </a:solidFill>
                <a:latin typeface="Calibri"/>
              </a:rPr>
              <a:t>3 easy installments: PKR 10,000  /  15,600  /  15,600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800600"/>
            <a:ext cx="4023360" cy="640080"/>
          </a:xfrm>
          <a:prstGeom prst="roundRect">
            <a:avLst>
              <a:gd name="adj" fmla="val 20000"/>
            </a:avLst>
          </a:prstGeom>
          <a:solidFill>
            <a:srgbClr val="62C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95604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Calibri"/>
              </a:rPr>
              <a:t>SAVE OVER 88%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ZERO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9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A1A1A"/>
                </a:solidFill>
                <a:latin typeface="Montserrat"/>
              </a:rPr>
              <a:t>100% Money-Back Guarantee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10881360" cy="1463040"/>
          </a:xfrm>
          <a:prstGeom prst="roundRect">
            <a:avLst>
              <a:gd name="adj" fmla="val 8000"/>
            </a:avLst>
          </a:prstGeom>
          <a:solidFill>
            <a:srgbClr val="EEF8E4"/>
          </a:solidFill>
          <a:ln w="19050">
            <a:solidFill>
              <a:srgbClr val="62C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If you don't feel this program is worth it, request a refund — no lengthy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1A1A1A"/>
                </a:solidFill>
                <a:latin typeface="Calibri"/>
              </a:rPr>
              <a:t>forms, no runaround. That's the whole process.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BONUSES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9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A1A1A"/>
                </a:solidFill>
                <a:latin typeface="Montserrat"/>
              </a:rPr>
              <a:t>Included at No Extra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212080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ADECF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2688" y="2286000"/>
            <a:ext cx="457200" cy="76200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6888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A1A1A"/>
                </a:solidFill>
                <a:latin typeface="Montserrat"/>
              </a:rPr>
              <a:t>Client Acquisition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108960"/>
            <a:ext cx="4663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645C"/>
                </a:solidFill>
                <a:latin typeface="Calibri"/>
              </a:rPr>
              <a:t>A repeatable framework for landing your first paying clients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2011680"/>
            <a:ext cx="5212080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ADECF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10528" y="2286000"/>
            <a:ext cx="457200" cy="76200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46888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A1A1A"/>
                </a:solidFill>
                <a:latin typeface="Montserrat"/>
              </a:rPr>
              <a:t>Sales Call Mastery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108960"/>
            <a:ext cx="4663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645C"/>
                </a:solidFill>
                <a:latin typeface="Calibri"/>
              </a:rPr>
              <a:t>How to run a sales call that closes, without feeling salesy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SOCIAL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9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A1A1A"/>
                </a:solidFill>
                <a:latin typeface="Montserrat"/>
              </a:rPr>
              <a:t>What Students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3429000" cy="2103120"/>
          </a:xfrm>
          <a:prstGeom prst="roundRect">
            <a:avLst>
              <a:gd name="adj" fmla="val 5000"/>
            </a:avLst>
          </a:prstGeom>
          <a:solidFill>
            <a:srgbClr val="F0E8DC"/>
          </a:solidFill>
          <a:ln w="15875">
            <a:solidFill>
              <a:srgbClr val="FF7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651760"/>
            <a:ext cx="3429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7D00"/>
                </a:solidFill>
                <a:latin typeface="Calibri"/>
              </a:rPr>
              <a:t>[ TESTIMONIAL SCREENSHOT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1828800"/>
            <a:ext cx="3429000" cy="2103120"/>
          </a:xfrm>
          <a:prstGeom prst="roundRect">
            <a:avLst>
              <a:gd name="adj" fmla="val 5000"/>
            </a:avLst>
          </a:prstGeom>
          <a:solidFill>
            <a:srgbClr val="F0E8DC"/>
          </a:solidFill>
          <a:ln w="15875">
            <a:solidFill>
              <a:srgbClr val="FF7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2651760"/>
            <a:ext cx="3429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7D00"/>
                </a:solidFill>
                <a:latin typeface="Calibri"/>
              </a:rPr>
              <a:t>[ TESTIMONIAL SCREENSHOT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828800"/>
            <a:ext cx="3429000" cy="2103120"/>
          </a:xfrm>
          <a:prstGeom prst="roundRect">
            <a:avLst>
              <a:gd name="adj" fmla="val 5000"/>
            </a:avLst>
          </a:prstGeom>
          <a:solidFill>
            <a:srgbClr val="F0E8DC"/>
          </a:solidFill>
          <a:ln w="15875">
            <a:solidFill>
              <a:srgbClr val="FF7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0688" y="2651760"/>
            <a:ext cx="34290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7D00"/>
                </a:solidFill>
                <a:latin typeface="Calibri"/>
              </a:rPr>
              <a:t>[ TESTIMONIAL SCREENSHOT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206240"/>
            <a:ext cx="10881360" cy="1005840"/>
          </a:xfrm>
          <a:prstGeom prst="roundRect">
            <a:avLst>
              <a:gd name="adj" fmla="val 10000"/>
            </a:avLst>
          </a:prstGeom>
          <a:solidFill>
            <a:srgbClr val="24201C"/>
          </a:solidFill>
          <a:ln>
            <a:noFill/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46227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7D00"/>
                </a:solidFill>
                <a:latin typeface="Calibri"/>
              </a:rPr>
              <a:t>●  31 slots booked — 19 left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WORST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6B645C"/>
                </a:solidFill>
                <a:latin typeface="Calibri"/>
              </a:rPr>
              <a:t>SECTION 9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A1A1A"/>
                </a:solidFill>
                <a:latin typeface="Montserrat"/>
              </a:rPr>
              <a:t>The Only Two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21208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EADECF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3774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150">
                <a:solidFill>
                  <a:srgbClr val="6B645C"/>
                </a:solidFill>
                <a:latin typeface="Calibri"/>
              </a:rPr>
              <a:t>WORST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8036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You don't love it — you get a full refund.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2103120"/>
            <a:ext cx="5212080" cy="2286000"/>
          </a:xfrm>
          <a:prstGeom prst="roundRect">
            <a:avLst>
              <a:gd name="adj" fmla="val 7000"/>
            </a:avLst>
          </a:prstGeom>
          <a:solidFill>
            <a:srgbClr val="EEF8E4"/>
          </a:solidFill>
          <a:ln w="19050">
            <a:solidFill>
              <a:srgbClr val="62C41F"/>
            </a:solidFill>
          </a:ln>
          <a:effectLst>
            <a:outerShdw blurRad="180000" dist="30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3774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150">
                <a:solidFill>
                  <a:srgbClr val="6B645C"/>
                </a:solidFill>
                <a:latin typeface="Calibri"/>
              </a:rPr>
              <a:t>BEST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88036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Calibri"/>
              </a:rPr>
              <a:t>You walk away with a new skillset in 3 months.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66344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6B645C"/>
                </a:solidFill>
                <a:latin typeface="Calibri"/>
              </a:rPr>
              <a:t>Zero real risk, either way.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20">
                <a:solidFill>
                  <a:srgbClr val="FF7D00"/>
                </a:solidFill>
                <a:latin typeface="Calibri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1" spc="140">
                <a:solidFill>
                  <a:srgbClr val="C9C2B8"/>
                </a:solidFill>
                <a:latin typeface="Calibri"/>
              </a:rPr>
              <a:t>SECTION 9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5400" b="1">
                <a:solidFill>
                  <a:srgbClr val="FFF9F4"/>
                </a:solidFill>
                <a:latin typeface="Montserrat"/>
              </a:rPr>
              <a:t>Let's Talk.</a:t>
            </a:r>
          </a:p>
          <a:p>
            <a:pPr algn="l">
              <a:lnSpc>
                <a:spcPct val="102000"/>
              </a:lnSpc>
            </a:pPr>
            <a:r>
              <a:rPr sz="5400" b="1">
                <a:solidFill>
                  <a:srgbClr val="FFF9F4"/>
                </a:solidFill>
                <a:latin typeface="Montserrat"/>
              </a:rPr>
              <a:t>Live Q&amp;A.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749039"/>
            <a:ext cx="2011680" cy="76200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402336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9C2B8"/>
                </a:solidFill>
                <a:latin typeface="Calibri"/>
              </a:rPr>
              <a:t>First 40 people get the workshop price. It closes when the timer does.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6364224"/>
            <a:ext cx="109728" cy="109728"/>
          </a:xfrm>
          <a:prstGeom prst="ellipse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630936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140">
                <a:solidFill>
                  <a:srgbClr val="FFF9F4"/>
                </a:solidFill>
                <a:latin typeface="Calibri"/>
              </a:rPr>
              <a:t>LIVE SESSION  |  MAKEFIRSTMILLION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45C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